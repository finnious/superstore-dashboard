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18CF8"/>
                </a:solidFill>
              </a:defRPr>
            </a:pPr>
            <a:r>
              <a:t>DIVE COHORT 1 — 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1F5F9"/>
                </a:solidFill>
              </a:defRPr>
            </a:pPr>
            <a:r>
              <a:t>Superstore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38BDF8"/>
                </a:solidFill>
              </a:defRPr>
            </a:pPr>
            <a:r>
              <a:t>Business Intelligence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A recommendation for deploying an interactive BI tool to give retail operations leadership real-time visibility into sales performance, profit drivers, and discount risk — enabling data-driven decisions that could recover $120K–$150K in annual profit.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228600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0233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</a:defRPr>
            </a:pPr>
            <a:r>
              <a:t>REVENUE ANALYZED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2519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8BDF8"/>
                </a:solidFill>
              </a:defRPr>
            </a:pPr>
            <a:r>
              <a:t>$2.3M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61772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4 years of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3931920"/>
            <a:ext cx="228600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40233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</a:defRPr>
            </a:pPr>
            <a:r>
              <a:t>ORDERS PROCESSED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42519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4D399"/>
                </a:solidFill>
              </a:defRPr>
            </a:pPr>
            <a:r>
              <a:t>9,994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461772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Across 4 regions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3931920"/>
            <a:ext cx="228600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40233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</a:defRPr>
            </a:pPr>
            <a:r>
              <a:t>PROFIT AT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42519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7171"/>
                </a:solidFill>
              </a:defRPr>
            </a:pPr>
            <a:r>
              <a:t>$135K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461772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From high discounts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</a:defRPr>
            </a:pPr>
            <a:r>
              <a:t>DIVE Cohort 1 Capstone — Superstore BI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</a:defRPr>
            </a:pPr>
            <a:r>
              <a:t>Business Context &amp; Target Audience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502920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</a:defRPr>
            </a:pPr>
            <a:r>
              <a:t>The Business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Discount policies are eroding $135K+ in annual profit with no visibility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Regional performance varies by 2x (Central: 7.9% vs. West: 14.9% margin)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Product-level losses in Tables and Bookcases go undetected, bleeding $21K/year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Leadership relies on manual, spreadsheet-based reporting that takes days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66160"/>
            <a:ext cx="502920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</a:defRPr>
            </a:pPr>
            <a:r>
              <a:t>Target Audience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2336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VP of Retail Operations — daily KPI monitoring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Regional Managers — performance benchmarking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Category Buyers — product profitability decisions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Finance Team — discount policy enforcement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9728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1887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</a:defRPr>
            </a:pPr>
            <a:r>
              <a:t>Dataset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4 years of transactional retail data (2014–2017):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011680"/>
            <a:ext cx="219456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10312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</a:defRPr>
            </a:pPr>
            <a:r>
              <a:t>ORDERS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3317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8BDF8"/>
                </a:solidFill>
              </a:defRPr>
            </a:pPr>
            <a:r>
              <a:t>9,994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69748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</a:p>
        </p:txBody>
      </p:sp>
      <p:sp>
        <p:nvSpPr>
          <p:cNvPr id="16" name="Rounded Rectangle 15"/>
          <p:cNvSpPr/>
          <p:nvPr/>
        </p:nvSpPr>
        <p:spPr>
          <a:xfrm>
            <a:off x="8778240" y="2011680"/>
            <a:ext cx="219456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15400" y="210312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</a:defRPr>
            </a:pPr>
            <a:r>
              <a:t>CUSTOMERS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23317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18CF8"/>
                </a:solidFill>
              </a:defRPr>
            </a:pPr>
            <a:r>
              <a:t>793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269748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</a:p>
        </p:txBody>
      </p:sp>
      <p:sp>
        <p:nvSpPr>
          <p:cNvPr id="20" name="Rounded Rectangle 19"/>
          <p:cNvSpPr/>
          <p:nvPr/>
        </p:nvSpPr>
        <p:spPr>
          <a:xfrm>
            <a:off x="6400800" y="3108960"/>
            <a:ext cx="219456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320040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</a:defRPr>
            </a:pPr>
            <a:r>
              <a:t>PRODUCTS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4290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4D399"/>
                </a:solidFill>
              </a:defRPr>
            </a:pPr>
            <a:r>
              <a:t>1,862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79476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</a:p>
        </p:txBody>
      </p:sp>
      <p:sp>
        <p:nvSpPr>
          <p:cNvPr id="24" name="Rounded Rectangle 23"/>
          <p:cNvSpPr/>
          <p:nvPr/>
        </p:nvSpPr>
        <p:spPr>
          <a:xfrm>
            <a:off x="8778240" y="3108960"/>
            <a:ext cx="219456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15400" y="320040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</a:defRPr>
            </a:pPr>
            <a:r>
              <a:t>REGIONS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34290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B923C"/>
                </a:solidFill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379476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6400800" y="438912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21 data fields: orders, shipping, segments, categories, sales, discounts, profit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3 segments: Consumer (50.6%), Corporate (30.7%), Home Office (18.7%)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3 categories: Technology, Furniture, Office Supplies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</a:defRPr>
            </a:pPr>
            <a:r>
              <a:t>DIVE Cohort 1 Capstone — Superstore BI 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</a:defRPr>
            </a:pPr>
            <a:r>
              <a:t>Key Insights from Data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256032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0972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</a:defRPr>
            </a:pPr>
            <a:r>
              <a:t>TOTAL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8BDF8"/>
                </a:solidFill>
              </a:defRPr>
            </a:pPr>
            <a:r>
              <a:t>$2.30M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51% growth over 4 years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005840"/>
            <a:ext cx="256032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0972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</a:defRPr>
            </a:pPr>
            <a:r>
              <a:t>TOTAL PROFIT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325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4D399"/>
                </a:solidFill>
              </a:defRPr>
            </a:pPr>
            <a:r>
              <a:t>$286K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169164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12.5% overall margin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05840"/>
            <a:ext cx="256032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0972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</a:defRPr>
            </a:pPr>
            <a:r>
              <a:t>BEST CATEGORY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325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18CF8"/>
                </a:solidFill>
              </a:defRPr>
            </a:pPr>
            <a:r>
              <a:t>Technology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69164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17.4% margin, $145K profit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005840"/>
            <a:ext cx="256032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10972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</a:defRPr>
            </a:pPr>
            <a:r>
              <a:t>WORST CATEGORY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1325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7171"/>
                </a:solidFill>
              </a:defRPr>
            </a:pPr>
            <a:r>
              <a:t>Furniture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169164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2.5% margin, only $18K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194560"/>
            <a:ext cx="5303520" cy="1828800"/>
          </a:xfrm>
          <a:prstGeom prst="roundRect">
            <a:avLst/>
          </a:prstGeom>
          <a:solidFill>
            <a:srgbClr val="28191E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22860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</a:defRPr>
            </a:pPr>
            <a:r>
              <a:t>Critical Discovery: The 20% Discount Cliff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265176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Margins are positive up to 20% discount, then turn sharply negative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Orders above 20% discount generate -$135K in losses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This wipes out 47% of total profit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Recommendation: Cap discounts at 20%, require VP approval for exceptions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297680"/>
            <a:ext cx="530352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3891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</a:defRPr>
            </a:pPr>
            <a:r>
              <a:t>Regional Performance Gap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75488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West: $108K profit (14.9% margin) — top performer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East: $92K profit (13.5%) | South: $47K (11.9%)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Central: $40K profit (7.9% margin) — needs intervention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194560"/>
            <a:ext cx="5212080" cy="3566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22860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</a:defRPr>
            </a:pPr>
            <a:r>
              <a:t>Decision Points Across the Data Pipeline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7432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</a:defRPr>
            </a:pPr>
            <a:r>
              <a:t>1. COLLECT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74320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9,994 transactions, 21 fields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97180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8BDF8"/>
                </a:solidFill>
              </a:defRPr>
            </a:pPr>
            <a:r>
              <a:t>KPI: Data completeness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5204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18CF8"/>
                </a:solidFill>
              </a:defRPr>
            </a:pPr>
            <a:r>
              <a:t>2. CLEAN &amp; PARSE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352044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Type validation, date normalization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74904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18CF8"/>
                </a:solidFill>
              </a:defRPr>
            </a:pPr>
            <a:r>
              <a:t>KPI: Parse success 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2976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</a:defRPr>
            </a:pPr>
            <a:r>
              <a:t>3. ANALYZE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429768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Filter, aggregate, anomaly detection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52628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4D399"/>
                </a:solidFill>
              </a:defRPr>
            </a:pPr>
            <a:r>
              <a:t>Decision: Cap discounts at 20%?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074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B923C"/>
                </a:solidFill>
              </a:defRPr>
            </a:pPr>
            <a:r>
              <a:t>4. 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507492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Policy changes, regional interventions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530352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B923C"/>
                </a:solidFill>
              </a:defRPr>
            </a:pPr>
            <a:r>
              <a:t>Decision: Exit Tables sub-category?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</a:defRPr>
            </a:pPr>
            <a:r>
              <a:t>DIVE Cohort 1 Capstone — Superstore BI Dashboard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</a:defRPr>
            </a:pPr>
            <a:r>
              <a:t>Dashboard UI/UX &amp; AI Feature Strategy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530352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8BDF8"/>
                </a:solidFill>
              </a:defRPr>
            </a:pPr>
            <a:r>
              <a:t>UI/UX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1F5F9"/>
                </a:solidFill>
              </a:defRPr>
            </a:pPr>
            <a:r>
              <a:t>3 Filter Dimensions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72768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Year, Region, Category — all charts recalculate instantly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1F5F9"/>
                </a:solidFill>
              </a:defRPr>
            </a:pPr>
            <a:r>
              <a:t>6 Interactive Chart Types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29968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Line, bar, doughnut, combo — matched to data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1F5F9"/>
                </a:solidFill>
              </a:defRPr>
            </a:pPr>
            <a:r>
              <a:t>Sortable Data 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87168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17 sub-categories, click any column header to sort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4320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1F5F9"/>
                </a:solidFill>
              </a:defRPr>
            </a:pPr>
            <a:r>
              <a:t>PDF Export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44368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One-click export preserves current filter state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74720"/>
            <a:ext cx="530352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5204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4D399"/>
                </a:solidFill>
              </a:defRPr>
            </a:pPr>
            <a:r>
              <a:t>OPERATIONAL UX ALIGNMENT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404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Morning standup: KPI cards for 3-second health check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Weekly review: Filter by region, export PDF for leadership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Monthly deep-dive: Sortable table + discount analysis for policy decisions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Quarterly planning: AI simulator tools for scenario forecasting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005840"/>
            <a:ext cx="5212080" cy="2286000"/>
          </a:xfrm>
          <a:prstGeom prst="roundRect">
            <a:avLst/>
          </a:prstGeom>
          <a:solidFill>
            <a:srgbClr val="191C32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0515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8BDF8"/>
                </a:solidFill>
              </a:defRPr>
            </a:pPr>
            <a:r>
              <a:t>AI TOOL 1: DISCOUNT CAP SIMULATOR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37160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Adjust a slider to set maximum discount cap (0-50%)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Instantly see: current vs. projected profit comparison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Exact dollar amount of profit recovered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Visual bar charts with data labels (before vs. after)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Orders at risk count updates in real-time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474720"/>
            <a:ext cx="5212080" cy="2286000"/>
          </a:xfrm>
          <a:prstGeom prst="roundRect">
            <a:avLst/>
          </a:prstGeom>
          <a:solidFill>
            <a:srgbClr val="142323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5204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4D399"/>
                </a:solidFill>
              </a:defRPr>
            </a:pPr>
            <a:r>
              <a:t>AI TOOL 2: ORDER PROFITABILITY PREDICTOR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84048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Select: Category, Sub-Category, Region, Discount %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Get risk score (0-100) based on historical order patterns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Average profit/loss per similar order with margin %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Color-coded verdict: LOW RISK / MEDIUM / HIGH RISK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Actionable recommendation (safe, reduce discount, renegotiate)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</a:defRPr>
            </a:pPr>
            <a:r>
              <a:t>DIVE Cohort 1 Capstone — Superstore BI 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</a:defRPr>
            </a:pPr>
            <a:r>
              <a:t>Implementation Roadmap &amp; Performance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265176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09728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4A3B8"/>
                </a:solidFill>
              </a:defRPr>
            </a:pPr>
            <a:r>
              <a:t>Phase 1: Week 1-2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</a:defRPr>
            </a:pPr>
            <a:r>
              <a:t>Data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Data source integration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CSV parsing pipeline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Data validation rules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KPI alignment with stakeholders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005840"/>
            <a:ext cx="265176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109728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4A3B8"/>
                </a:solidFill>
              </a:defRPr>
            </a:pPr>
            <a:r>
              <a:t>Phase 2: Week 3-4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3258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8CF8"/>
                </a:solidFill>
              </a:defRPr>
            </a:pPr>
            <a:r>
              <a:t>Core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164592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6 interactive chart types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Multi-filter architecture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Responsive layout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Sub-category drill-down table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005840"/>
            <a:ext cx="265176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09728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4A3B8"/>
                </a:solidFill>
              </a:defRPr>
            </a:pPr>
            <a:r>
              <a:t>Phase 3: Week 5-6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3258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</a:defRPr>
            </a:pPr>
            <a:r>
              <a:t>AI &amp; Analytics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64592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Discount cap simulator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Profitability predictor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Anomaly detection alerts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Automated recommendations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1005840"/>
            <a:ext cx="265176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600" y="109728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4A3B8"/>
                </a:solidFill>
              </a:defRPr>
            </a:pPr>
            <a:r>
              <a:t>Phase 4: Week 7-8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13258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923C"/>
                </a:solidFill>
              </a:defRPr>
            </a:pPr>
            <a:r>
              <a:t>Polish &amp; Deploy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164592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PDF export functionality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Performance optimization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User acceptance testing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Training &amp; documentation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840480"/>
            <a:ext cx="356616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9319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</a:defRPr>
            </a:pPr>
            <a:r>
              <a:t>Performance Specs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25196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CSV parse: ~200ms for 10K rows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Filter refresh: &lt;100ms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Zero server dependencies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Works offline after initial load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59" y="3840480"/>
            <a:ext cx="356616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19" y="39319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</a:defRPr>
            </a:pPr>
            <a:r>
              <a:t>Technology Stack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19" y="425196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Chart.js 4.4 — interactive charts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PapaParse 5.4 — CSV processing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html2canvas — PDF rendering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jsPDF — document export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599" y="3840480"/>
            <a:ext cx="356616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59" y="39319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</a:defRPr>
            </a:pPr>
            <a:r>
              <a:t>Scalability Path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59" y="425196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Migrate CSV to REST API / database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Add real-time data streaming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Role-based access control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Embed ML forecasting models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</a:defRPr>
            </a:pPr>
            <a:r>
              <a:t>DIVE Cohort 1 Capstone — Superstore BI 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</a:defRPr>
            </a:pPr>
            <a:r>
              <a:t>Conclusion &amp; 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530352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</a:defRPr>
            </a:pPr>
            <a:r>
              <a:t>What We Demonstrated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Fully interactive dashboard parsing 9,994 rows in the browser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3 filter dimensions recalculating all visuals in real-time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6 chart types chosen for specific analytical purposes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2 AI scenario tools: Discount Simulator + Profitability Predictor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One-click PDF export preserving the filtered analysis state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Live deployment at finnious.github.io/superstore-dashboard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49039"/>
            <a:ext cx="5303520" cy="1645920"/>
          </a:xfrm>
          <a:prstGeom prst="roundRect">
            <a:avLst/>
          </a:prstGeom>
          <a:solidFill>
            <a:srgbClr val="14231E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</a:defRPr>
            </a:pPr>
            <a:r>
              <a:t>Key 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0624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Implement a 20% discount cap policy immediately. This single change, identified through the dashboard's analysis, would recover approximately $95K–$135K per year in profit currently being lost to excessive discounting.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05840"/>
            <a:ext cx="521208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0972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</a:defRPr>
            </a:pPr>
            <a:r>
              <a:t>Proposed Next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Week 1: Present dashboard to VP Operations for feedback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Week 2: Connect to live data source (database/API)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Week 3-4: Pilot with Central region (weakest margin)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Month 2: Roll out discount policy with dashboard monitoring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Month 3: Integrate ML-based forecasting and alerting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Quarter 2: Full company rollout with role-based views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206240"/>
            <a:ext cx="246888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429768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</a:defRPr>
            </a:pPr>
            <a:r>
              <a:t>ANNUAL PROFIT RECOVERY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45262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4D399"/>
                </a:solidFill>
              </a:defRPr>
            </a:pPr>
            <a:r>
              <a:t>$120K+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89204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From discount + product optimization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4206240"/>
            <a:ext cx="246888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429768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</a:defRPr>
            </a:pPr>
            <a:r>
              <a:t>FILTER RESPONSE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45262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8BDF8"/>
                </a:solidFill>
              </a:defRPr>
            </a:pPr>
            <a:r>
              <a:t>&lt;100ms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489204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Real-time interactivity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5394960"/>
            <a:ext cx="5212080" cy="822960"/>
          </a:xfrm>
          <a:prstGeom prst="roundRect">
            <a:avLst/>
          </a:prstGeom>
          <a:solidFill>
            <a:srgbClr val="141C2D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54406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Ready for Deployment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7607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Zero-infrastructure dashboard — open in any browser, no server required.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</a:defRPr>
            </a:pPr>
            <a:r>
              <a:t>DIVE Cohort 1 Capstone — Superstore BI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